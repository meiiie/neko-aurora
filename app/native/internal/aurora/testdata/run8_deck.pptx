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 dau: Kinh chao quy vi. Hon hai nghin nam, con nguoi da mo uoc bien kim loai re thanh vang. Hom nay, chuyen hoa do khong con la truyen thuyet - no la vat ly hat nhan thuc su. Trong sau phut toi, chung ta se di ba chang duong: uoc mo gia kim thuat, thí nghiem 1941 cua cac nha vat ly Harvard, va de xuat mang tinh demo cua Marathon Fusion nam 2025. Va cau hoi lon: chuyen hoa nay co khi nao kinh te khong?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 kim thuat khong chi la lung bac. No la tien than cua hoa hoc hien dai. Cac gia kim da dung thuy nganh vi mot ly do that sat: trong bang tuan hoan, thuy nganh o vi tri 80, vang o vi tri 79 - chi khac mot proton. Neu loai bo mot proton khoi hat nhan thuy nganh, ta duoc vang. Nhung de lam duoc dieu do, can nang luong lon - dieu ma lo thu cua the ky 20 moi cung cap duoc.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 1941, tai Harvard, ba nha vat ly da lam dieu ma gia kim mo uoc: ho ban thuy nganh bang neutron nhanh tao tu tia Li-deuteri. Ket qua: ba dong vi vang phat xa duoc hinh thanh qua phan ung n-p - neutron vao hat nhan, mot proton bay ra, thuy nganh bien thanh vang. Vang thuc su da duoc tao ra. Nhung day la vang phat xa: Au-198 chin 65 gio, Au-199 chin 78 gio - nghia la no phan rach va bien mat, khong the tich tru hay ban duoc. Gia tri thuc su nam o khoa hoc: ban chat cua nguyen to duoc chung minh co the thay doi.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Hay nhin vao so do. Nam 1941: Hg-198 hap thu neutron nhanh, mot proton bay ra, ta duoc Au-197 on dinh - vang that. Nhung phan ung n-p chi xay ra rat hiem. De xuat 2025 cua Marathon Fusion khac: neutron fusion nang luong cao 14 MeV va phan ung n hai n. Hg-198 hap thu neutron, phat ra hai neutron, thanh Hg-197 phat xa; Hg-197 chin bang bat bat electron trong 64 gio va tro thanh Au-197 - vang on dinh duy nhat trong tu nhien. Moi vong nhu the tao ra vang thuc, khong phan rach.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Marathon Fusion, mot startup tai San Francisco, da dua y tuong nay len mot tam muc khac trong preprint nam 2025: dung neutron 14 MeV tu phan ung deuteri-triti trong lo fusion de bat Hg-198 da lam giau. Diem thong minh: nha may fusion luon can lop blanket che neutron - thay blanket bang thuy nganh giau Hg-198 thi vang ra nhu phu san pham, ke ca cac dong vi y te chua ung thu. Thang muoi 2025, ho cong bo tren mang da tao duoc vang on dinh tu thuy nganh bang neutron fusion. Nhung luu y quan trong: ho chua cong bo du lieu thi nghiem, va khai niem nay chua duoc kiem chung doc lap.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Dung mo uoc lam giau. Phan lon thuy nganh tu nhien la dong vi khac khong cho ket qua mong muon - can tach dong vi Hg-198, cong doan rat dac. Neutron 14 MeV chi co trong lo fusion D-T - lo ma nhan loai van dang xay dung. Va so lieu cua chinh Marathon Fusion cho thay gia tri kinh te nam o dong vi y te, khong phai vang. Bien thuy nganh thanh vang trong lo fusion la mot minh chung cong nghe - khong phai may in tien.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Nhinh lai ca chang duong. Nam 1941, vang dau tien duoc tong hop tu thuy nganh - phat xa va tam thoi. Nam 2025, mot cong ty de xuat tao vang on dinh nhu phu san pham cua dien fusion, va tu nhan da thuc hien thanh cong - dù chua co chung minh doc lap. Bai hoc lon nhat: gia kim thuat da sai ve phuong thuc nhung dung ve muc tieu. Cac nha khoa hoc hat nhan hom nay, bang lo fusion, dang lam dung dieu ma nha gia kim mo uoc - bien thuy nganh thanh vang. Xin cam on quy vi.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l"/>
            <a:r>
              <a:rPr sz="3400" b="1">
                <a:solidFill>
                  <a:srgbClr val="0B3C7A"/>
                </a:solidFill>
                <a:latin typeface="Calibri"/>
              </a:rPr>
              <a:t>Bien thuy nganh thanh vang</a:t>
            </a:r>
          </a:p>
        </p:txBody>
      </p:sp>
      <p:sp>
        <p:nvSpPr>
          <p:cNvPr id="4" name="Rectangle 3"/>
          <p:cNvSpPr/>
          <p:nvPr/>
        </p:nvSpPr>
        <p:spPr>
          <a:xfrm>
            <a:off x="548640" y="1234440"/>
            <a:ext cx="2011680" cy="4572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377440"/>
            <a:ext cx="10515600" cy="1828800"/>
          </a:xfrm>
          <a:prstGeom prst="rect">
            <a:avLst/>
          </a:prstGeom>
          <a:noFill/>
        </p:spPr>
        <p:txBody>
          <a:bodyPr wrap="square">
            <a:spAutoFit/>
          </a:bodyPr>
          <a:lstStyle/>
          <a:p>
            <a:pPr algn="ctr"/>
            <a:r>
              <a:rPr sz="2400" b="0">
                <a:solidFill>
                  <a:srgbClr val="1F6FB2"/>
                </a:solidFill>
                <a:latin typeface="Calibri"/>
              </a:rPr>
              <a:t>Chuyen hoa hat nhan Hg -&gt; Au: tu gia kim den Marathon Fusion 2025</a:t>
            </a:r>
          </a:p>
        </p:txBody>
      </p:sp>
      <p:sp>
        <p:nvSpPr>
          <p:cNvPr id="6" name="TextBox 5"/>
          <p:cNvSpPr txBox="1"/>
          <p:nvPr/>
        </p:nvSpPr>
        <p:spPr>
          <a:xfrm>
            <a:off x="11155680" y="6400800"/>
            <a:ext cx="731520" cy="365760"/>
          </a:xfrm>
          <a:prstGeom prst="rect">
            <a:avLst/>
          </a:prstGeom>
          <a:noFill/>
        </p:spPr>
        <p:txBody>
          <a:bodyPr wrap="square">
            <a:spAutoFit/>
          </a:bodyPr>
          <a:lstStyle/>
          <a:p>
            <a:pPr algn="r"/>
            <a:r>
              <a:rPr sz="1400" b="0">
                <a:solidFill>
                  <a:srgbClr val="5A6A7A"/>
                </a:solidFill>
                <a:latin typeface="Calibri"/>
              </a:rPr>
              <a:t>1 / 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l"/>
            <a:r>
              <a:rPr sz="3400" b="1">
                <a:solidFill>
                  <a:srgbClr val="0B3C7A"/>
                </a:solidFill>
                <a:latin typeface="Calibri"/>
              </a:rPr>
              <a:t>Uoc mo gia kim thuat</a:t>
            </a:r>
          </a:p>
        </p:txBody>
      </p:sp>
      <p:sp>
        <p:nvSpPr>
          <p:cNvPr id="4" name="Rectangle 3"/>
          <p:cNvSpPr/>
          <p:nvPr/>
        </p:nvSpPr>
        <p:spPr>
          <a:xfrm>
            <a:off x="548640" y="1234440"/>
            <a:ext cx="2011680" cy="4572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45920"/>
            <a:ext cx="10515600" cy="3931920"/>
          </a:xfrm>
          <a:prstGeom prst="rect">
            <a:avLst/>
          </a:prstGeom>
          <a:noFill/>
        </p:spPr>
        <p:txBody>
          <a:bodyPr wrap="square">
            <a:spAutoFit/>
          </a:bodyPr>
          <a:lstStyle/>
          <a:p>
            <a:pPr>
              <a:spcAft>
                <a:spcPts val="1400"/>
              </a:spcAft>
            </a:pPr>
            <a:r>
              <a:rPr sz="2000" b="1">
                <a:solidFill>
                  <a:srgbClr val="1F6FB2"/>
                </a:solidFill>
              </a:rPr>
              <a:t>●  </a:t>
            </a:r>
            <a:r>
              <a:rPr sz="2000">
                <a:solidFill>
                  <a:srgbClr val="1A1A2E"/>
                </a:solidFill>
              </a:rPr>
              <a:t>Gia kim thuat: bien kim loai thuong thanh vang - thu hang nghin nam</a:t>
            </a:r>
          </a:p>
          <a:p>
            <a:pPr>
              <a:spcAft>
                <a:spcPts val="1400"/>
              </a:spcAft>
            </a:pPr>
            <a:r>
              <a:rPr sz="2000" b="1">
                <a:solidFill>
                  <a:srgbClr val="1F6FB2"/>
                </a:solidFill>
              </a:rPr>
              <a:t>●  </a:t>
            </a:r>
            <a:r>
              <a:rPr sz="2000">
                <a:solidFill>
                  <a:srgbClr val="1A1A2E"/>
                </a:solidFill>
              </a:rPr>
              <a:t>Thuy nganh (Hg) duoc goi la 'nguyen lieu gan nhat' cua vang</a:t>
            </a:r>
          </a:p>
          <a:p>
            <a:pPr>
              <a:spcAft>
                <a:spcPts val="1400"/>
              </a:spcAft>
            </a:pPr>
            <a:r>
              <a:rPr sz="2000" b="1">
                <a:solidFill>
                  <a:srgbClr val="1F6FB2"/>
                </a:solidFill>
              </a:rPr>
              <a:t>●  </a:t>
            </a:r>
            <a:r>
              <a:rPr sz="2000">
                <a:solidFill>
                  <a:srgbClr val="1A1A2E"/>
                </a:solidFill>
              </a:rPr>
              <a:t>Ly do khoa hoc: Hg (Z=80) va Au (Z=79) lien ke trong bang tuan hoan</a:t>
            </a:r>
          </a:p>
          <a:p>
            <a:pPr>
              <a:spcAft>
                <a:spcPts val="1400"/>
              </a:spcAft>
            </a:pPr>
            <a:r>
              <a:rPr sz="2000" b="1">
                <a:solidFill>
                  <a:srgbClr val="1F6FB2"/>
                </a:solidFill>
              </a:rPr>
              <a:t>●  </a:t>
            </a:r>
            <a:r>
              <a:rPr sz="2000">
                <a:solidFill>
                  <a:srgbClr val="1A1A2E"/>
                </a:solidFill>
              </a:rPr>
              <a:t>Chi khi hieu vat ly hat nhan (thap ky 1930), y nghia nay moi tro nen thuc nghiem</a:t>
            </a:r>
          </a:p>
        </p:txBody>
      </p:sp>
      <p:sp>
        <p:nvSpPr>
          <p:cNvPr id="6" name="TextBox 5"/>
          <p:cNvSpPr txBox="1"/>
          <p:nvPr/>
        </p:nvSpPr>
        <p:spPr>
          <a:xfrm>
            <a:off x="11155680" y="6400800"/>
            <a:ext cx="731520" cy="365760"/>
          </a:xfrm>
          <a:prstGeom prst="rect">
            <a:avLst/>
          </a:prstGeom>
          <a:noFill/>
        </p:spPr>
        <p:txBody>
          <a:bodyPr wrap="square">
            <a:spAutoFit/>
          </a:bodyPr>
          <a:lstStyle/>
          <a:p>
            <a:pPr algn="r"/>
            <a:r>
              <a:rPr sz="1400" b="0">
                <a:solidFill>
                  <a:srgbClr val="5A6A7A"/>
                </a:solidFill>
                <a:latin typeface="Calibri"/>
              </a:rPr>
              <a:t>2 / 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4" presetID="10" presetClass="entr" presetSubtype="0" fill="hold" grpId="0" nodeType="afterEffect">
                                  <p:stCondLst>
                                    <p:cond delay="4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l"/>
            <a:r>
              <a:rPr sz="3400" b="1">
                <a:solidFill>
                  <a:srgbClr val="0B3C7A"/>
                </a:solidFill>
                <a:latin typeface="Calibri"/>
              </a:rPr>
              <a:t>Thi nghiem 1941: Sherr, Bainbridge &amp; Anderson</a:t>
            </a:r>
          </a:p>
        </p:txBody>
      </p:sp>
      <p:sp>
        <p:nvSpPr>
          <p:cNvPr id="4" name="Rectangle 3"/>
          <p:cNvSpPr/>
          <p:nvPr/>
        </p:nvSpPr>
        <p:spPr>
          <a:xfrm>
            <a:off x="548640" y="1234440"/>
            <a:ext cx="2011680" cy="4572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45920"/>
            <a:ext cx="10515600" cy="3931920"/>
          </a:xfrm>
          <a:prstGeom prst="rect">
            <a:avLst/>
          </a:prstGeom>
          <a:noFill/>
        </p:spPr>
        <p:txBody>
          <a:bodyPr wrap="square">
            <a:spAutoFit/>
          </a:bodyPr>
          <a:lstStyle/>
          <a:p>
            <a:pPr>
              <a:spcAft>
                <a:spcPts val="1400"/>
              </a:spcAft>
            </a:pPr>
            <a:r>
              <a:rPr sz="2000" b="1">
                <a:solidFill>
                  <a:srgbClr val="1F6FB2"/>
                </a:solidFill>
              </a:rPr>
              <a:t>●  </a:t>
            </a:r>
            <a:r>
              <a:rPr sz="2000">
                <a:solidFill>
                  <a:srgbClr val="1A1A2E"/>
                </a:solidFill>
              </a:rPr>
              <a:t>R. Sherr, K.T. Bainbridge, H.H. Anderson - Physical Review 60, 473 (10/1941)</a:t>
            </a:r>
          </a:p>
          <a:p>
            <a:pPr>
              <a:spcAft>
                <a:spcPts val="1400"/>
              </a:spcAft>
            </a:pPr>
            <a:r>
              <a:rPr sz="2000" b="1">
                <a:solidFill>
                  <a:srgbClr val="1F6FB2"/>
                </a:solidFill>
              </a:rPr>
              <a:t>●  </a:t>
            </a:r>
            <a:r>
              <a:rPr sz="2000">
                <a:solidFill>
                  <a:srgbClr val="1A1A2E"/>
                </a:solidFill>
              </a:rPr>
              <a:t>Ban thuy nganh bang neutron nhanh (Li + D)</a:t>
            </a:r>
          </a:p>
          <a:p>
            <a:pPr>
              <a:spcAft>
                <a:spcPts val="1400"/>
              </a:spcAft>
            </a:pPr>
            <a:r>
              <a:rPr sz="2000" b="1">
                <a:solidFill>
                  <a:srgbClr val="1F6FB2"/>
                </a:solidFill>
              </a:rPr>
              <a:t>●  </a:t>
            </a:r>
            <a:r>
              <a:rPr sz="2000">
                <a:solidFill>
                  <a:srgbClr val="1A1A2E"/>
                </a:solidFill>
              </a:rPr>
              <a:t>Phat hien 3 dong vi vang phat xa: Au-198 (65 gio), Au-199 (78 gio), dong vi 48 phut</a:t>
            </a:r>
          </a:p>
          <a:p>
            <a:pPr>
              <a:spcAft>
                <a:spcPts val="1400"/>
              </a:spcAft>
            </a:pPr>
            <a:r>
              <a:rPr sz="2000" b="1">
                <a:solidFill>
                  <a:srgbClr val="1F6FB2"/>
                </a:solidFill>
              </a:rPr>
              <a:t>●  </a:t>
            </a:r>
            <a:r>
              <a:rPr sz="2000">
                <a:solidFill>
                  <a:srgbClr val="1A1A2E"/>
                </a:solidFill>
              </a:rPr>
              <a:t>Co che: phan ung n-p tren dong vi thuy nganh</a:t>
            </a:r>
          </a:p>
        </p:txBody>
      </p:sp>
      <p:sp>
        <p:nvSpPr>
          <p:cNvPr id="6" name="TextBox 5"/>
          <p:cNvSpPr txBox="1"/>
          <p:nvPr/>
        </p:nvSpPr>
        <p:spPr>
          <a:xfrm>
            <a:off x="11155680" y="6400800"/>
            <a:ext cx="731520" cy="365760"/>
          </a:xfrm>
          <a:prstGeom prst="rect">
            <a:avLst/>
          </a:prstGeom>
          <a:noFill/>
        </p:spPr>
        <p:txBody>
          <a:bodyPr wrap="square">
            <a:spAutoFit/>
          </a:bodyPr>
          <a:lstStyle/>
          <a:p>
            <a:pPr algn="r"/>
            <a:r>
              <a:rPr sz="1400" b="0">
                <a:solidFill>
                  <a:srgbClr val="5A6A7A"/>
                </a:solidFill>
                <a:latin typeface="Calibri"/>
              </a:rPr>
              <a:t>3 / 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4" presetID="10" presetClass="entr" presetSubtype="0" fill="hold" grpId="0" nodeType="afterEffect">
                                  <p:stCondLst>
                                    <p:cond delay="4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l"/>
            <a:r>
              <a:rPr sz="3400" b="1">
                <a:solidFill>
                  <a:srgbClr val="0B3C7A"/>
                </a:solidFill>
                <a:latin typeface="Calibri"/>
              </a:rPr>
              <a:t>Co che: phan ung n-p va (n,2n)</a:t>
            </a:r>
          </a:p>
        </p:txBody>
      </p:sp>
      <p:sp>
        <p:nvSpPr>
          <p:cNvPr id="4" name="Rectangle 3"/>
          <p:cNvSpPr/>
          <p:nvPr/>
        </p:nvSpPr>
        <p:spPr>
          <a:xfrm>
            <a:off x="548640" y="1234440"/>
            <a:ext cx="2011680" cy="4572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5486400" cy="365760"/>
          </a:xfrm>
          <a:prstGeom prst="rect">
            <a:avLst/>
          </a:prstGeom>
          <a:noFill/>
        </p:spPr>
        <p:txBody>
          <a:bodyPr wrap="square">
            <a:spAutoFit/>
          </a:bodyPr>
          <a:lstStyle/>
          <a:p>
            <a:pPr algn="l"/>
            <a:r>
              <a:rPr sz="1800" b="1">
                <a:solidFill>
                  <a:srgbClr val="0B3C7A"/>
                </a:solidFill>
                <a:latin typeface="Calibri"/>
              </a:rPr>
              <a:t>1941 — phan ung n-p (rat hiem)</a:t>
            </a:r>
          </a:p>
        </p:txBody>
      </p:sp>
      <p:sp>
        <p:nvSpPr>
          <p:cNvPr id="6" name="Rounded Rectangle 5"/>
          <p:cNvSpPr/>
          <p:nvPr/>
        </p:nvSpPr>
        <p:spPr>
          <a:xfrm>
            <a:off x="640080" y="1828800"/>
            <a:ext cx="1828800" cy="914400"/>
          </a:xfrm>
          <a:prstGeom prst="roundRect">
            <a:avLst/>
          </a:prstGeom>
          <a:solidFill>
            <a:srgbClr val="E3EFF9"/>
          </a:solidFill>
          <a:ln w="19050">
            <a:solidFill>
              <a:srgbClr val="0B3C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0B3C7A"/>
                </a:solidFill>
              </a:rPr>
              <a:t>Hg-198
(thuy nganh)</a:t>
            </a:r>
          </a:p>
        </p:txBody>
      </p:sp>
      <p:sp>
        <p:nvSpPr>
          <p:cNvPr id="7" name="Right Arrow 6"/>
          <p:cNvSpPr/>
          <p:nvPr/>
        </p:nvSpPr>
        <p:spPr>
          <a:xfrm>
            <a:off x="2651760" y="2057400"/>
            <a:ext cx="822960" cy="457200"/>
          </a:xfrm>
          <a:prstGeom prst="rightArrow">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606040" y="914400"/>
            <a:ext cx="914400" cy="548640"/>
          </a:xfrm>
          <a:prstGeom prst="roundRect">
            <a:avLst/>
          </a:prstGeom>
          <a:solidFill>
            <a:srgbClr val="FFFFFF"/>
          </a:solidFill>
          <a:ln w="19050">
            <a:solidFill>
              <a:srgbClr val="0B3C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6FB2"/>
                </a:solidFill>
              </a:rPr>
              <a:t>+ n nhanh
(Li+D)</a:t>
            </a:r>
          </a:p>
        </p:txBody>
      </p:sp>
      <p:sp>
        <p:nvSpPr>
          <p:cNvPr id="9" name="Rounded Rectangle 8"/>
          <p:cNvSpPr/>
          <p:nvPr/>
        </p:nvSpPr>
        <p:spPr>
          <a:xfrm>
            <a:off x="3657600" y="1828800"/>
            <a:ext cx="2103120" cy="914400"/>
          </a:xfrm>
          <a:prstGeom prst="roundRect">
            <a:avLst/>
          </a:prstGeom>
          <a:solidFill>
            <a:srgbClr val="FBF3D9"/>
          </a:solidFill>
          <a:ln w="19050">
            <a:solidFill>
              <a:srgbClr val="0B3C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A1A2E"/>
                </a:solidFill>
              </a:rPr>
              <a:t>Au-197 + p
(vang on dinh, rat it)</a:t>
            </a:r>
          </a:p>
        </p:txBody>
      </p:sp>
      <p:sp>
        <p:nvSpPr>
          <p:cNvPr id="10" name="TextBox 9"/>
          <p:cNvSpPr txBox="1"/>
          <p:nvPr/>
        </p:nvSpPr>
        <p:spPr>
          <a:xfrm>
            <a:off x="640080" y="3246120"/>
            <a:ext cx="9144000" cy="365760"/>
          </a:xfrm>
          <a:prstGeom prst="rect">
            <a:avLst/>
          </a:prstGeom>
          <a:noFill/>
        </p:spPr>
        <p:txBody>
          <a:bodyPr wrap="square">
            <a:spAutoFit/>
          </a:bodyPr>
          <a:lstStyle/>
          <a:p>
            <a:pPr algn="l"/>
            <a:r>
              <a:rPr sz="1800" b="1">
                <a:solidFill>
                  <a:srgbClr val="0B3C7A"/>
                </a:solidFill>
                <a:latin typeface="Calibri"/>
              </a:rPr>
              <a:t>2025 — Marathon Fusion: phan ung (n,2n), neutron fusion 14 MeV</a:t>
            </a:r>
          </a:p>
        </p:txBody>
      </p:sp>
      <p:sp>
        <p:nvSpPr>
          <p:cNvPr id="11" name="Rounded Rectangle 10"/>
          <p:cNvSpPr/>
          <p:nvPr/>
        </p:nvSpPr>
        <p:spPr>
          <a:xfrm>
            <a:off x="640080" y="3749039"/>
            <a:ext cx="1920240" cy="914400"/>
          </a:xfrm>
          <a:prstGeom prst="roundRect">
            <a:avLst/>
          </a:prstGeom>
          <a:solidFill>
            <a:srgbClr val="E3EFF9"/>
          </a:solidFill>
          <a:ln w="19050">
            <a:solidFill>
              <a:srgbClr val="0B3C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0B3C7A"/>
                </a:solidFill>
              </a:rPr>
              <a:t>Hg-198
da tach dong vi</a:t>
            </a:r>
          </a:p>
        </p:txBody>
      </p:sp>
      <p:sp>
        <p:nvSpPr>
          <p:cNvPr id="12" name="Right Arrow 11"/>
          <p:cNvSpPr/>
          <p:nvPr/>
        </p:nvSpPr>
        <p:spPr>
          <a:xfrm>
            <a:off x="2697480" y="3977639"/>
            <a:ext cx="731520" cy="457200"/>
          </a:xfrm>
          <a:prstGeom prst="rightArrow">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651760" y="2926080"/>
            <a:ext cx="960120" cy="548640"/>
          </a:xfrm>
          <a:prstGeom prst="roundRect">
            <a:avLst/>
          </a:prstGeom>
          <a:solidFill>
            <a:srgbClr val="FFFFFF"/>
          </a:solidFill>
          <a:ln w="19050">
            <a:solidFill>
              <a:srgbClr val="0B3C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6FB2"/>
                </a:solidFill>
              </a:rPr>
              <a:t>n 14 MeV
(D-T fusion)</a:t>
            </a:r>
          </a:p>
        </p:txBody>
      </p:sp>
      <p:sp>
        <p:nvSpPr>
          <p:cNvPr id="14" name="Rounded Rectangle 13"/>
          <p:cNvSpPr/>
          <p:nvPr/>
        </p:nvSpPr>
        <p:spPr>
          <a:xfrm>
            <a:off x="3657600" y="3611880"/>
            <a:ext cx="2194560" cy="1188720"/>
          </a:xfrm>
          <a:prstGeom prst="roundRect">
            <a:avLst/>
          </a:prstGeom>
          <a:solidFill>
            <a:srgbClr val="E8E8F5"/>
          </a:solidFill>
          <a:ln w="19050">
            <a:solidFill>
              <a:srgbClr val="0B3C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A1A2E"/>
                </a:solidFill>
              </a:rPr>
              <a:t>Hg-197
phat xa, 64 gio
(=2 neutron phat ra)</a:t>
            </a:r>
          </a:p>
        </p:txBody>
      </p:sp>
      <p:sp>
        <p:nvSpPr>
          <p:cNvPr id="15" name="Right Arrow 14"/>
          <p:cNvSpPr/>
          <p:nvPr/>
        </p:nvSpPr>
        <p:spPr>
          <a:xfrm>
            <a:off x="6035040" y="3977639"/>
            <a:ext cx="731520" cy="457200"/>
          </a:xfrm>
          <a:prstGeom prst="rightArrow">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949440" y="3611880"/>
            <a:ext cx="2377440" cy="1188720"/>
          </a:xfrm>
          <a:prstGeom prst="roundRect">
            <a:avLst/>
          </a:prstGeom>
          <a:solidFill>
            <a:srgbClr val="C9A227"/>
          </a:solidFill>
          <a:ln w="19050">
            <a:solidFill>
              <a:srgbClr val="0B3C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3A2A00"/>
                </a:solidFill>
              </a:rPr>
              <a:t>Au-197
VANG ON DINH
+ dong vi y te</a:t>
            </a:r>
          </a:p>
        </p:txBody>
      </p:sp>
      <p:sp>
        <p:nvSpPr>
          <p:cNvPr id="17" name="Rounded Rectangle 16"/>
          <p:cNvSpPr/>
          <p:nvPr/>
        </p:nvSpPr>
        <p:spPr>
          <a:xfrm>
            <a:off x="9692640" y="3611880"/>
            <a:ext cx="1920240" cy="1188720"/>
          </a:xfrm>
          <a:prstGeom prst="roundRect">
            <a:avLst/>
          </a:prstGeom>
          <a:solidFill>
            <a:srgbClr val="0B3C7A"/>
          </a:solidFill>
          <a:ln w="19050">
            <a:solidFill>
              <a:srgbClr val="0B3C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Lo fusion D-T
(blanket thuy nganh)</a:t>
            </a:r>
          </a:p>
        </p:txBody>
      </p:sp>
      <p:sp>
        <p:nvSpPr>
          <p:cNvPr id="18" name="TextBox 17"/>
          <p:cNvSpPr txBox="1"/>
          <p:nvPr/>
        </p:nvSpPr>
        <p:spPr>
          <a:xfrm>
            <a:off x="640080" y="5120640"/>
            <a:ext cx="10058400" cy="365760"/>
          </a:xfrm>
          <a:prstGeom prst="rect">
            <a:avLst/>
          </a:prstGeom>
          <a:noFill/>
        </p:spPr>
        <p:txBody>
          <a:bodyPr wrap="square">
            <a:spAutoFit/>
          </a:bodyPr>
          <a:lstStyle/>
          <a:p>
            <a:pPr algn="l"/>
            <a:r>
              <a:rPr sz="1600" b="0">
                <a:solidFill>
                  <a:srgbClr val="5A6A7A"/>
                </a:solidFill>
                <a:latin typeface="Calibri"/>
              </a:rPr>
              <a:t>Hg-197 -&gt; bat electron -&gt; Au-197 (vang on dinh duy nhat trong tu nhien)</a:t>
            </a:r>
          </a:p>
        </p:txBody>
      </p:sp>
      <p:sp>
        <p:nvSpPr>
          <p:cNvPr id="19" name="TextBox 18"/>
          <p:cNvSpPr txBox="1"/>
          <p:nvPr/>
        </p:nvSpPr>
        <p:spPr>
          <a:xfrm>
            <a:off x="11155680" y="6400800"/>
            <a:ext cx="731520" cy="365760"/>
          </a:xfrm>
          <a:prstGeom prst="rect">
            <a:avLst/>
          </a:prstGeom>
          <a:noFill/>
        </p:spPr>
        <p:txBody>
          <a:bodyPr wrap="square">
            <a:spAutoFit/>
          </a:bodyPr>
          <a:lstStyle/>
          <a:p>
            <a:pPr algn="r"/>
            <a:r>
              <a:rPr sz="1400" b="0">
                <a:solidFill>
                  <a:srgbClr val="5A6A7A"/>
                </a:solidFill>
                <a:latin typeface="Calibri"/>
              </a:rPr>
              <a:t>4 / 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4" presetID="10" presetClass="entr" presetSubtype="0" fill="hold" grpId="0" nodeType="afterEffect">
                                  <p:stCondLst>
                                    <p:cond delay="4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8" presetID="10" presetClass="entr" presetSubtype="0" fill="hold" grpId="0" nodeType="afterEffect">
                                  <p:stCondLst>
                                    <p:cond delay="80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2" presetID="10" presetClass="entr" presetSubtype="0" fill="hold" grpId="0" nodeType="afterEffect">
                                  <p:stCondLst>
                                    <p:cond delay="12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6" presetID="10" presetClass="entr" presetSubtype="0" fill="hold" grpId="0" nodeType="afterEffect">
                                  <p:stCondLst>
                                    <p:cond delay="16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30" presetID="10" presetClass="entr" presetSubtype="0" fill="hold" grpId="0" nodeType="afterEffect">
                                  <p:stCondLst>
                                    <p:cond delay="20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4" presetID="10" presetClass="entr" presetSubtype="0" fill="hold" grpId="0" nodeType="afterEffect">
                                  <p:stCondLst>
                                    <p:cond delay="24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8" presetID="10" presetClass="entr" presetSubtype="0" fill="hold" grpId="0" nodeType="afterEffect">
                                  <p:stCondLst>
                                    <p:cond delay="280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2" presetID="10" presetClass="entr" presetSubtype="0" fill="hold" grpId="0" nodeType="afterEffect">
                                  <p:stCondLst>
                                    <p:cond delay="320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6" presetID="10" presetClass="entr" presetSubtype="0" fill="hold" grpId="0" nodeType="afterEffect">
                                  <p:stCondLst>
                                    <p:cond delay="360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50" presetID="10" presetClass="entr" presetSubtype="0" fill="hold" grpId="0" nodeType="afterEffect">
                                  <p:stCondLst>
                                    <p:cond delay="400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4" presetID="10" presetClass="entr" presetSubtype="0" fill="hold" grpId="0" nodeType="afterEffect">
                                  <p:stCondLst>
                                    <p:cond delay="440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l"/>
            <a:r>
              <a:rPr sz="3400" b="1">
                <a:solidFill>
                  <a:srgbClr val="0B3C7A"/>
                </a:solidFill>
                <a:latin typeface="Calibri"/>
              </a:rPr>
              <a:t>Marathon Fusion 2025: 'Scalable Chrysopoeia'</a:t>
            </a:r>
          </a:p>
        </p:txBody>
      </p:sp>
      <p:sp>
        <p:nvSpPr>
          <p:cNvPr id="4" name="Rectangle 3"/>
          <p:cNvSpPr/>
          <p:nvPr/>
        </p:nvSpPr>
        <p:spPr>
          <a:xfrm>
            <a:off x="548640" y="1234440"/>
            <a:ext cx="2011680" cy="4572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45920"/>
            <a:ext cx="10515600" cy="3931920"/>
          </a:xfrm>
          <a:prstGeom prst="rect">
            <a:avLst/>
          </a:prstGeom>
          <a:noFill/>
        </p:spPr>
        <p:txBody>
          <a:bodyPr wrap="square">
            <a:spAutoFit/>
          </a:bodyPr>
          <a:lstStyle/>
          <a:p>
            <a:pPr>
              <a:spcAft>
                <a:spcPts val="1400"/>
              </a:spcAft>
            </a:pPr>
            <a:r>
              <a:rPr sz="2000" b="1">
                <a:solidFill>
                  <a:srgbClr val="1F6FB2"/>
                </a:solidFill>
              </a:rPr>
              <a:t>●  </a:t>
            </a:r>
            <a:r>
              <a:rPr sz="2000">
                <a:solidFill>
                  <a:srgbClr val="1A1A2E"/>
                </a:solidFill>
              </a:rPr>
              <a:t>Preprint 2025: 'Scalable Chrysopoeia via (n,2n) Reactions Driven by DT Fusion Neutrons'</a:t>
            </a:r>
          </a:p>
          <a:p>
            <a:pPr>
              <a:spcAft>
                <a:spcPts val="1400"/>
              </a:spcAft>
            </a:pPr>
            <a:r>
              <a:rPr sz="2000" b="1">
                <a:solidFill>
                  <a:srgbClr val="1F6FB2"/>
                </a:solidFill>
              </a:rPr>
              <a:t>●  </a:t>
            </a:r>
            <a:r>
              <a:rPr sz="2000">
                <a:solidFill>
                  <a:srgbClr val="1A1A2E"/>
                </a:solidFill>
              </a:rPr>
              <a:t>Neutron 14 MeV tu fusion deuteri-triti bat Hg-198 -&gt; Hg-197 -&gt; Au-197</a:t>
            </a:r>
          </a:p>
          <a:p>
            <a:pPr>
              <a:spcAft>
                <a:spcPts val="1400"/>
              </a:spcAft>
            </a:pPr>
            <a:r>
              <a:rPr sz="2000" b="1">
                <a:solidFill>
                  <a:srgbClr val="1F6FB2"/>
                </a:solidFill>
              </a:rPr>
              <a:t>●  </a:t>
            </a:r>
            <a:r>
              <a:rPr sz="2000">
                <a:solidFill>
                  <a:srgbClr val="1A1A2E"/>
                </a:solidFill>
              </a:rPr>
              <a:t>Phu san pham: dong vi y te (vi tri ung thu) nhu Pd-103, Lu-177</a:t>
            </a:r>
          </a:p>
          <a:p>
            <a:pPr>
              <a:spcAft>
                <a:spcPts val="1400"/>
              </a:spcAft>
            </a:pPr>
            <a:r>
              <a:rPr sz="2000" b="1">
                <a:solidFill>
                  <a:srgbClr val="1F6FB2"/>
                </a:solidFill>
              </a:rPr>
              <a:t>●  </a:t>
            </a:r>
            <a:r>
              <a:rPr sz="2000">
                <a:solidFill>
                  <a:srgbClr val="1A1A2E"/>
                </a:solidFill>
              </a:rPr>
              <a:t>Thang 10/2025: cong bo da tao vang on dinh tu thuy nganh - chua cong bo du lieu thi nghiem</a:t>
            </a:r>
          </a:p>
        </p:txBody>
      </p:sp>
      <p:sp>
        <p:nvSpPr>
          <p:cNvPr id="6" name="TextBox 5"/>
          <p:cNvSpPr txBox="1"/>
          <p:nvPr/>
        </p:nvSpPr>
        <p:spPr>
          <a:xfrm>
            <a:off x="11155680" y="6400800"/>
            <a:ext cx="731520" cy="365760"/>
          </a:xfrm>
          <a:prstGeom prst="rect">
            <a:avLst/>
          </a:prstGeom>
          <a:noFill/>
        </p:spPr>
        <p:txBody>
          <a:bodyPr wrap="square">
            <a:spAutoFit/>
          </a:bodyPr>
          <a:lstStyle/>
          <a:p>
            <a:pPr algn="r"/>
            <a:r>
              <a:rPr sz="1400" b="0">
                <a:solidFill>
                  <a:srgbClr val="5A6A7A"/>
                </a:solidFill>
                <a:latin typeface="Calibri"/>
              </a:rPr>
              <a:t>5 / 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4" presetID="10" presetClass="entr" presetSubtype="0" fill="hold" grpId="0" nodeType="afterEffect">
                                  <p:stCondLst>
                                    <p:cond delay="4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l"/>
            <a:r>
              <a:rPr sz="3400" b="1">
                <a:solidFill>
                  <a:srgbClr val="0B3C7A"/>
                </a:solidFill>
                <a:latin typeface="Calibri"/>
              </a:rPr>
              <a:t>Nhung gioi han vat ly va kinh te</a:t>
            </a:r>
          </a:p>
        </p:txBody>
      </p:sp>
      <p:sp>
        <p:nvSpPr>
          <p:cNvPr id="4" name="Rectangle 3"/>
          <p:cNvSpPr/>
          <p:nvPr/>
        </p:nvSpPr>
        <p:spPr>
          <a:xfrm>
            <a:off x="548640" y="1234440"/>
            <a:ext cx="2011680" cy="4572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45920"/>
            <a:ext cx="10515600" cy="3931920"/>
          </a:xfrm>
          <a:prstGeom prst="rect">
            <a:avLst/>
          </a:prstGeom>
          <a:noFill/>
        </p:spPr>
        <p:txBody>
          <a:bodyPr wrap="square">
            <a:spAutoFit/>
          </a:bodyPr>
          <a:lstStyle/>
          <a:p>
            <a:pPr>
              <a:spcAft>
                <a:spcPts val="1400"/>
              </a:spcAft>
            </a:pPr>
            <a:r>
              <a:rPr sz="2000" b="1">
                <a:solidFill>
                  <a:srgbClr val="1F6FB2"/>
                </a:solidFill>
              </a:rPr>
              <a:t>●  </a:t>
            </a:r>
            <a:r>
              <a:rPr sz="2000">
                <a:solidFill>
                  <a:srgbClr val="1A1A2E"/>
                </a:solidFill>
              </a:rPr>
              <a:t>Chi Hg-198 (khoang 10% thuy nganh tu nhien) phu hop - can tach dong vi</a:t>
            </a:r>
          </a:p>
          <a:p>
            <a:pPr>
              <a:spcAft>
                <a:spcPts val="1400"/>
              </a:spcAft>
            </a:pPr>
            <a:r>
              <a:rPr sz="2000" b="1">
                <a:solidFill>
                  <a:srgbClr val="1F6FB2"/>
                </a:solidFill>
              </a:rPr>
              <a:t>●  </a:t>
            </a:r>
            <a:r>
              <a:rPr sz="2000">
                <a:solidFill>
                  <a:srgbClr val="1A1A2E"/>
                </a:solidFill>
              </a:rPr>
              <a:t>Phan ung (n,2n) can neutron 14 MeV - chi lo fusion D-T cung cap du</a:t>
            </a:r>
          </a:p>
          <a:p>
            <a:pPr>
              <a:spcAft>
                <a:spcPts val="1400"/>
              </a:spcAft>
            </a:pPr>
            <a:r>
              <a:rPr sz="2000" b="1">
                <a:solidFill>
                  <a:srgbClr val="1F6FB2"/>
                </a:solidFill>
              </a:rPr>
              <a:t>●  </a:t>
            </a:r>
            <a:r>
              <a:rPr sz="2000">
                <a:solidFill>
                  <a:srgbClr val="1A1A2E"/>
                </a:solidFill>
              </a:rPr>
              <a:t>Vang chi la phu san pham; gia tri chinh nam o dong vi y te va cong nghe fusion</a:t>
            </a:r>
          </a:p>
          <a:p>
            <a:pPr>
              <a:spcAft>
                <a:spcPts val="1400"/>
              </a:spcAft>
            </a:pPr>
            <a:r>
              <a:rPr sz="2000" b="1">
                <a:solidFill>
                  <a:srgbClr val="1F6FB2"/>
                </a:solidFill>
              </a:rPr>
              <a:t>●  </a:t>
            </a:r>
            <a:r>
              <a:rPr sz="2000">
                <a:solidFill>
                  <a:srgbClr val="1A1A2E"/>
                </a:solidFill>
              </a:rPr>
              <a:t>San luong vang du bao rat nho so voi khai thac mỏ</a:t>
            </a:r>
          </a:p>
        </p:txBody>
      </p:sp>
      <p:sp>
        <p:nvSpPr>
          <p:cNvPr id="6" name="TextBox 5"/>
          <p:cNvSpPr txBox="1"/>
          <p:nvPr/>
        </p:nvSpPr>
        <p:spPr>
          <a:xfrm>
            <a:off x="11155680" y="6400800"/>
            <a:ext cx="731520" cy="365760"/>
          </a:xfrm>
          <a:prstGeom prst="rect">
            <a:avLst/>
          </a:prstGeom>
          <a:noFill/>
        </p:spPr>
        <p:txBody>
          <a:bodyPr wrap="square">
            <a:spAutoFit/>
          </a:bodyPr>
          <a:lstStyle/>
          <a:p>
            <a:pPr algn="r"/>
            <a:r>
              <a:rPr sz="1400" b="0">
                <a:solidFill>
                  <a:srgbClr val="5A6A7A"/>
                </a:solidFill>
                <a:latin typeface="Calibri"/>
              </a:rPr>
              <a:t>6 / 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4" presetID="10" presetClass="entr" presetSubtype="0" fill="hold" grpId="0" nodeType="afterEffect">
                                  <p:stCondLst>
                                    <p:cond delay="4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l"/>
            <a:r>
              <a:rPr sz="3400" b="1">
                <a:solidFill>
                  <a:srgbClr val="0B3C7A"/>
                </a:solidFill>
                <a:latin typeface="Calibri"/>
              </a:rPr>
              <a:t>Ket: tu mo uoc den ky thuat</a:t>
            </a:r>
          </a:p>
        </p:txBody>
      </p:sp>
      <p:sp>
        <p:nvSpPr>
          <p:cNvPr id="4" name="Rectangle 3"/>
          <p:cNvSpPr/>
          <p:nvPr/>
        </p:nvSpPr>
        <p:spPr>
          <a:xfrm>
            <a:off x="548640" y="1234440"/>
            <a:ext cx="2011680" cy="45720"/>
          </a:xfrm>
          <a:prstGeom prst="rect">
            <a:avLst/>
          </a:prstGeom>
          <a:solidFill>
            <a:srgbClr val="1F6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45920"/>
            <a:ext cx="10515600" cy="3931920"/>
          </a:xfrm>
          <a:prstGeom prst="rect">
            <a:avLst/>
          </a:prstGeom>
          <a:noFill/>
        </p:spPr>
        <p:txBody>
          <a:bodyPr wrap="square">
            <a:spAutoFit/>
          </a:bodyPr>
          <a:lstStyle/>
          <a:p>
            <a:pPr>
              <a:spcAft>
                <a:spcPts val="1400"/>
              </a:spcAft>
            </a:pPr>
            <a:r>
              <a:rPr sz="2000" b="1">
                <a:solidFill>
                  <a:srgbClr val="1F6FB2"/>
                </a:solidFill>
              </a:rPr>
              <a:t>●  </a:t>
            </a:r>
            <a:r>
              <a:rPr sz="2000">
                <a:solidFill>
                  <a:srgbClr val="1A1A2E"/>
                </a:solidFill>
              </a:rPr>
              <a:t>1941: vang duoc tao tu thuy nganh lan dau - nhung phat xa, tam thoi</a:t>
            </a:r>
          </a:p>
          <a:p>
            <a:pPr>
              <a:spcAft>
                <a:spcPts val="1400"/>
              </a:spcAft>
            </a:pPr>
            <a:r>
              <a:rPr sz="2000" b="1">
                <a:solidFill>
                  <a:srgbClr val="1F6FB2"/>
                </a:solidFill>
              </a:rPr>
              <a:t>●  </a:t>
            </a:r>
            <a:r>
              <a:rPr sz="2000">
                <a:solidFill>
                  <a:srgbClr val="1A1A2E"/>
                </a:solidFill>
              </a:rPr>
              <a:t>2025: de xuat tao vang on dinh nhu phu san pham cua lo fusion</a:t>
            </a:r>
          </a:p>
          <a:p>
            <a:pPr>
              <a:spcAft>
                <a:spcPts val="1400"/>
              </a:spcAft>
            </a:pPr>
            <a:r>
              <a:rPr sz="2000" b="1">
                <a:solidFill>
                  <a:srgbClr val="1F6FB2"/>
                </a:solidFill>
              </a:rPr>
              <a:t>●  </a:t>
            </a:r>
            <a:r>
              <a:rPr sz="2000">
                <a:solidFill>
                  <a:srgbClr val="1A1A2E"/>
                </a:solidFill>
              </a:rPr>
              <a:t>Gia tri lon nhat: khoa hoc hat nhan va dong vi y te, khong phai lam giau</a:t>
            </a:r>
          </a:p>
          <a:p>
            <a:pPr>
              <a:spcAft>
                <a:spcPts val="1400"/>
              </a:spcAft>
            </a:pPr>
            <a:r>
              <a:rPr sz="2000" b="1">
                <a:solidFill>
                  <a:srgbClr val="1F6FB2"/>
                </a:solidFill>
              </a:rPr>
              <a:t>●  </a:t>
            </a:r>
            <a:r>
              <a:rPr sz="2000">
                <a:solidFill>
                  <a:srgbClr val="1A1A2E"/>
                </a:solidFill>
              </a:rPr>
              <a:t>Cac nha gia kim da dung: chi can thoi gian hai nghin nam</a:t>
            </a:r>
          </a:p>
        </p:txBody>
      </p:sp>
      <p:sp>
        <p:nvSpPr>
          <p:cNvPr id="6" name="TextBox 5"/>
          <p:cNvSpPr txBox="1"/>
          <p:nvPr/>
        </p:nvSpPr>
        <p:spPr>
          <a:xfrm>
            <a:off x="548640" y="6035040"/>
            <a:ext cx="11064240" cy="320040"/>
          </a:xfrm>
          <a:prstGeom prst="rect">
            <a:avLst/>
          </a:prstGeom>
          <a:noFill/>
        </p:spPr>
        <p:txBody>
          <a:bodyPr wrap="square">
            <a:spAutoFit/>
          </a:bodyPr>
          <a:lstStyle/>
          <a:p>
            <a:pPr algn="l"/>
            <a:r>
              <a:rPr sz="1400" b="0">
                <a:solidFill>
                  <a:srgbClr val="5A6A7A"/>
                </a:solidFill>
                <a:latin typeface="Calibri"/>
              </a:rPr>
              <a:t>Sherr, Bainbridge, Anderson, Phys. Rev. 60, 473 (1941)</a:t>
            </a:r>
          </a:p>
        </p:txBody>
      </p:sp>
      <p:sp>
        <p:nvSpPr>
          <p:cNvPr id="7" name="TextBox 6"/>
          <p:cNvSpPr txBox="1"/>
          <p:nvPr/>
        </p:nvSpPr>
        <p:spPr>
          <a:xfrm>
            <a:off x="548640" y="6355079"/>
            <a:ext cx="11064240" cy="320040"/>
          </a:xfrm>
          <a:prstGeom prst="rect">
            <a:avLst/>
          </a:prstGeom>
          <a:noFill/>
        </p:spPr>
        <p:txBody>
          <a:bodyPr wrap="square">
            <a:spAutoFit/>
          </a:bodyPr>
          <a:lstStyle/>
          <a:p>
            <a:pPr algn="l"/>
            <a:r>
              <a:rPr sz="1400" b="0">
                <a:solidFill>
                  <a:srgbClr val="5A6A7A"/>
                </a:solidFill>
                <a:latin typeface="Calibri"/>
              </a:rPr>
              <a:t>Marathon Fusion, arXiv preprint 2025; phys.org 7/2025; cong bo 10/2025</a:t>
            </a:r>
          </a:p>
        </p:txBody>
      </p:sp>
      <p:sp>
        <p:nvSpPr>
          <p:cNvPr id="8" name="TextBox 7"/>
          <p:cNvSpPr txBox="1"/>
          <p:nvPr/>
        </p:nvSpPr>
        <p:spPr>
          <a:xfrm>
            <a:off x="11155680" y="6400800"/>
            <a:ext cx="731520" cy="365760"/>
          </a:xfrm>
          <a:prstGeom prst="rect">
            <a:avLst/>
          </a:prstGeom>
          <a:noFill/>
        </p:spPr>
        <p:txBody>
          <a:bodyPr wrap="square">
            <a:spAutoFit/>
          </a:bodyPr>
          <a:lstStyle/>
          <a:p>
            <a:pPr algn="r"/>
            <a:r>
              <a:rPr sz="1400" b="0">
                <a:solidFill>
                  <a:srgbClr val="5A6A7A"/>
                </a:solidFill>
                <a:latin typeface="Calibri"/>
              </a:rPr>
              <a:t>7 / 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4" presetID="10" presetClass="entr" presetSubtype="0" fill="hold" grpId="0" nodeType="afterEffect">
                                  <p:stCondLst>
                                    <p:cond delay="4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